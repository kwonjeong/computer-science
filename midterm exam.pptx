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7"/>
  </p:notesMasterIdLst>
  <p:sldIdLst>
    <p:sldId id="261" r:id="rId2"/>
    <p:sldId id="264" r:id="rId3"/>
    <p:sldId id="275" r:id="rId4"/>
    <p:sldId id="276" r:id="rId5"/>
    <p:sldId id="278" r:id="rId6"/>
    <p:sldId id="280" r:id="rId7"/>
    <p:sldId id="281" r:id="rId8"/>
    <p:sldId id="282" r:id="rId9"/>
    <p:sldId id="285" r:id="rId10"/>
    <p:sldId id="283" r:id="rId11"/>
    <p:sldId id="287" r:id="rId12"/>
    <p:sldId id="288" r:id="rId13"/>
    <p:sldId id="284" r:id="rId14"/>
    <p:sldId id="289" r:id="rId15"/>
    <p:sldId id="290" r:id="rId16"/>
    <p:sldId id="286" r:id="rId17"/>
    <p:sldId id="291" r:id="rId18"/>
    <p:sldId id="292" r:id="rId19"/>
    <p:sldId id="295" r:id="rId20"/>
    <p:sldId id="293" r:id="rId21"/>
    <p:sldId id="294" r:id="rId22"/>
    <p:sldId id="296" r:id="rId23"/>
    <p:sldId id="297" r:id="rId24"/>
    <p:sldId id="298" r:id="rId25"/>
    <p:sldId id="299" r:id="rId26"/>
  </p:sldIdLst>
  <p:sldSz cx="12192000" cy="6858000"/>
  <p:notesSz cx="6858000" cy="9144000"/>
  <p:embeddedFontLst>
    <p:embeddedFont>
      <p:font typeface="나눔스퀘어라운드 ExtraBold" panose="020B0600000101010101" pitchFamily="50" charset="-127"/>
      <p:bold r:id="rId28"/>
    </p:embeddedFont>
    <p:embeddedFont>
      <p:font typeface="맑은 고딕" panose="020B0503020000020004" pitchFamily="50" charset="-127"/>
      <p:regular r:id="rId29"/>
      <p:bold r:id="rId30"/>
    </p:embeddedFont>
    <p:embeddedFont>
      <p:font typeface="티머니 둥근바람 ExtraBold" panose="02050903000000000000" pitchFamily="18" charset="-127"/>
      <p:bold r:id="rId31"/>
    </p:embeddedFont>
    <p:embeddedFont>
      <p:font typeface="티머니 둥근바람 Regular" panose="02050503000000000000" pitchFamily="18" charset="-127"/>
      <p:regular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wonJeong" initials="K" lastIdx="1" clrIdx="0">
    <p:extLst>
      <p:ext uri="{19B8F6BF-5375-455C-9EA6-DF929625EA0E}">
        <p15:presenceInfo xmlns:p15="http://schemas.microsoft.com/office/powerpoint/2012/main" userId="S::2016069@sookmyung.ac.kr::ebada317-95ab-4656-bc97-0642d7f9e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B9C4"/>
    <a:srgbClr val="33136D"/>
    <a:srgbClr val="8AE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5101B-FCCF-4F6D-96AD-1A511FE0AF70}" type="datetimeFigureOut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C4ABF-C3A4-463B-988F-4CC6E6C36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5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8E940-F02C-447F-A237-441A1E36D6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티머니 둥근바람 ExtraBold" panose="02050903000000000000" pitchFamily="18" charset="-127"/>
                <a:ea typeface="티머니 둥근바람 ExtraBold" panose="02050903000000000000" pitchFamily="18" charset="-127"/>
              </a:defRPr>
            </a:lvl1pPr>
          </a:lstStyle>
          <a:p>
            <a:r>
              <a:rPr lang="ko-KR" altLang="en-US" dirty="0"/>
              <a:t>컴퓨터 수학 중간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5C13A5-339A-47B3-B4EA-40603F0A17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소프트웨어학부 컴퓨터과학과 </a:t>
            </a:r>
            <a:r>
              <a:rPr lang="en-US" altLang="ko-KR" dirty="0"/>
              <a:t>2016069 </a:t>
            </a:r>
            <a:r>
              <a:rPr lang="ko-KR" altLang="en-US" dirty="0"/>
              <a:t>권정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04B5F9-99F8-4A88-9C2D-55AA53A8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48C607-DEEA-4506-B4A8-D0A13EAED632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FDA363-623D-45DC-9C0B-B35361B2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620A6-5E2C-4201-9AB9-FFE54BF0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77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D4961-D8D4-418B-B20D-86B93164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티머니 둥근바람 ExtraBold" panose="02050903000000000000" pitchFamily="18" charset="-127"/>
                <a:ea typeface="티머니 둥근바람 ExtraBold" panose="02050903000000000000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73E85-E471-4336-A3D8-5DEFF9C69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  <a:lvl2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2pPr>
            <a:lvl3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3pPr>
            <a:lvl4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4pPr>
            <a:lvl5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01521-A81F-416F-B53F-FD658B48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BC1299-C518-40B5-AE95-1FA3BAB521B3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E4307-2913-43FD-970C-2072B4E1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9E962-2FF0-44B4-9806-65B4C5E9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‹#›</a:t>
            </a:fld>
            <a:r>
              <a:rPr lang="en-US" altLang="ko-KR" dirty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902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58378-A494-4DF1-A3D3-0183D017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C65D0-3504-41E4-8961-52667A661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BE8427-88A5-43DA-9EC5-8511DEB5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611021-9337-4AAD-8016-F78188A1AB35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47FD3-896D-4BED-827C-9E048BA9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48C19F-AA3F-4577-81B4-BEC02D25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68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02A70-FFE5-4E07-AE65-60BF3762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E9123F-0EE5-46CB-B593-80C384C94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763398-64D9-4DFD-90C1-12D0FD781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748049-D7B8-41F0-890C-A02DDA41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323EBC-9A10-4684-93ED-F2831E922664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C539F1-D980-48F0-8A06-56C28EEE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4BC7FE-7599-4701-9C5E-443F9EAC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3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16A05-0D5A-41EB-9654-F86E4783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57C315-D290-44DE-AEA1-42D6B2DCD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CCFA7C-7C87-4DF7-B0B9-D966B20E0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3AAE25-2181-404D-BCB2-5EF70BA4A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3FB42E-3748-431F-8350-FD0FD6B56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0C4FC1-9D81-4459-9497-5C8DDA88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7535B7-BAE8-4417-955D-F85446A9E814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F20F85-F9A4-440D-AA2A-07E8666C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7298BF-A3AA-4AD1-B2D2-141C931D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46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2AE5A-FA7D-4DE9-8CD8-E94743DE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5" y="467358"/>
            <a:ext cx="2921000" cy="985520"/>
          </a:xfrm>
        </p:spPr>
        <p:txBody>
          <a:bodyPr/>
          <a:lstStyle>
            <a:lvl1pPr algn="l">
              <a:defRPr>
                <a:latin typeface="티머니 둥근바람 ExtraBold" panose="02050903000000000000" pitchFamily="18" charset="-127"/>
                <a:ea typeface="티머니 둥근바람 ExtraBold" panose="02050903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0C7A2E-3A0A-4D7F-878A-998872E9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D9A914-9322-4CDF-8348-8110DF951A50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BB630F-564E-44C9-8D1B-C7E1FBF6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60AE7-C996-4A37-A1AD-31DA03B1A31B}"/>
              </a:ext>
            </a:extLst>
          </p:cNvPr>
          <p:cNvSpPr/>
          <p:nvPr userDrawn="1"/>
        </p:nvSpPr>
        <p:spPr>
          <a:xfrm>
            <a:off x="838200" y="543270"/>
            <a:ext cx="118725" cy="75721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22FA7AB-638B-4446-8E85-7E4BF2A4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392"/>
            <a:ext cx="10515600" cy="43513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41C4B56-2133-445D-9B55-068D83E85A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432800" y="921875"/>
            <a:ext cx="2921000" cy="608793"/>
          </a:xfrm>
        </p:spPr>
        <p:txBody>
          <a:bodyPr/>
          <a:lstStyle>
            <a:lvl1pPr algn="r">
              <a:buNone/>
              <a:defRPr sz="2000"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93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F35276-E5F4-4A12-B7CC-303481C49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12C3E5-B53C-48E2-B5C8-1EFC8056EE1D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A57C34-4B3A-4F56-A302-BF0FEC45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42D25-5F11-4E8C-B189-562BD187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34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73B68-291D-46B7-90A8-B6195EF7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31604-38F8-4C7F-A15E-BF2C5A1A5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FF209E-FFCC-4211-AE1D-C2142F601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52B4E5-A71E-4DE7-BECA-445A695D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CCCBFB-6E07-44CF-B51E-66D47390847C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73F2EF-475B-4136-B3BF-98052084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A0F237-B126-426A-AF26-995B2636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19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A7919-36B7-4594-848A-FB87F78A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288615-51F5-47A7-B446-BDFDEA887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192E50-E672-407F-A19A-6F2B22C75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7DD282-22C1-49D0-86E2-29218645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922E54-61B7-4D78-84D3-EC338BC26DCA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744BAC-0D39-4A4A-B4F3-F03B0C6E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FDC435-E00A-4B9C-8D8E-EAEF2151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8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4BD4B-6822-4CEF-965E-3345ED67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6B9F97-4F39-4C16-B16C-D63315055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8A44B1-1BF1-4258-8506-3F4B435F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B0DAD8-37F5-4877-8F99-117B41CAFB17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894484-46B6-4DDB-854A-641A7B4D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0FA2E2-3042-459E-B1BC-BCC9CDF7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52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05B152-6060-4DB7-BE92-C49E73B5E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7E2CBA-86F4-497B-913A-741ED8A00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3B9141-324A-4C41-99A6-172C1266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EEBCBE-3AB1-4891-896C-972A89687DE2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1A6BA-E2A2-4F18-BBC2-E92277D4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A5B7F-15D5-4C39-892A-643C7988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32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3E4734-9E5E-432C-920F-132A39EE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9057FC-44DE-425D-9D4B-FC2814080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01180-B8ED-4AE7-8D88-BC823216A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</a:lstStyle>
          <a:p>
            <a:fld id="{6990B864-D46A-4D54-A4BF-FF0169C5BE07}" type="slidenum">
              <a:rPr lang="ko-KR" altLang="en-US" smtClean="0"/>
              <a:pPr/>
              <a:t>‹#›</a:t>
            </a:fld>
            <a:r>
              <a:rPr lang="en-US" altLang="ko-KR" dirty="0"/>
              <a:t>p</a:t>
            </a:r>
            <a:endParaRPr lang="ko-KR" altLang="en-US" dirty="0">
              <a:latin typeface="티머니 둥근바람 Regular" panose="02050503000000000000" pitchFamily="18" charset="-127"/>
              <a:ea typeface="티머니 둥근바람 Regular" panose="02050503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186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6D0919-F2E6-469A-869B-3844227D54C4}"/>
              </a:ext>
            </a:extLst>
          </p:cNvPr>
          <p:cNvSpPr/>
          <p:nvPr/>
        </p:nvSpPr>
        <p:spPr>
          <a:xfrm>
            <a:off x="2293620" y="2666197"/>
            <a:ext cx="7604760" cy="990908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7FA962-A380-4D05-B977-914D50E8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05"/>
            <a:ext cx="9144000" cy="2387600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컴퓨터 수학 중간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5F09FE-8C4A-4A77-9497-5887C33B5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1809"/>
            <a:ext cx="9144000" cy="1655762"/>
          </a:xfrm>
          <a:noFill/>
        </p:spPr>
        <p:txBody>
          <a:bodyPr/>
          <a:lstStyle/>
          <a:p>
            <a:r>
              <a:rPr lang="ko-KR" altLang="en-US" dirty="0"/>
              <a:t>소프트웨어학부 컴퓨터과학과 </a:t>
            </a:r>
            <a:r>
              <a:rPr lang="en-US" altLang="ko-KR" dirty="0"/>
              <a:t>2016069 </a:t>
            </a:r>
            <a:r>
              <a:rPr lang="ko-KR" altLang="en-US" dirty="0"/>
              <a:t>권정</a:t>
            </a:r>
          </a:p>
        </p:txBody>
      </p:sp>
    </p:spTree>
    <p:extLst>
      <p:ext uri="{BB962C8B-B14F-4D97-AF65-F5344CB8AC3E}">
        <p14:creationId xmlns:p14="http://schemas.microsoft.com/office/powerpoint/2010/main" val="641058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BD37FA-0C00-456A-86E7-260B26EE7890}"/>
              </a:ext>
            </a:extLst>
          </p:cNvPr>
          <p:cNvSpPr/>
          <p:nvPr/>
        </p:nvSpPr>
        <p:spPr>
          <a:xfrm>
            <a:off x="1310640" y="636269"/>
            <a:ext cx="1584960" cy="87376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FEE1A8-7108-4908-98E0-57C55926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2</a:t>
            </a:r>
            <a:r>
              <a:rPr lang="ko-KR" altLang="en-US" sz="4000" dirty="0">
                <a:solidFill>
                  <a:schemeClr val="bg1"/>
                </a:solidFill>
              </a:rPr>
              <a:t>주차 </a:t>
            </a:r>
            <a:r>
              <a:rPr lang="en-US" altLang="ko-KR" sz="4000" dirty="0"/>
              <a:t> </a:t>
            </a:r>
            <a:r>
              <a:rPr lang="en-US" altLang="ko-KR" sz="4000" dirty="0" err="1"/>
              <a:t>Propotional_logic_equivalence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DEF4A-C5EB-4B06-B62E-C32C446F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2004854"/>
            <a:ext cx="9489440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70000"/>
              </a:lnSpc>
              <a:buNone/>
            </a:pPr>
            <a:r>
              <a:rPr lang="ko-KR" altLang="en-US" sz="3200" dirty="0"/>
              <a:t>명제 논리</a:t>
            </a: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r>
              <a:rPr lang="ko-KR" altLang="en-US" sz="3200" dirty="0"/>
              <a:t>논리 연산자 </a:t>
            </a: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r>
              <a:rPr lang="ko-KR" altLang="en-US" sz="3200" dirty="0"/>
              <a:t>우선순위</a:t>
            </a: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r>
              <a:rPr lang="ko-KR" altLang="en-US" sz="3200" dirty="0"/>
              <a:t>명제 등가</a:t>
            </a: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70000"/>
              </a:lnSpc>
              <a:buNone/>
            </a:pPr>
            <a:r>
              <a:rPr lang="ko-KR" altLang="en-US" sz="3200" dirty="0"/>
              <a:t>논리 법칙</a:t>
            </a:r>
          </a:p>
        </p:txBody>
      </p:sp>
    </p:spTree>
    <p:extLst>
      <p:ext uri="{BB962C8B-B14F-4D97-AF65-F5344CB8AC3E}">
        <p14:creationId xmlns:p14="http://schemas.microsoft.com/office/powerpoint/2010/main" val="1079190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84842-19EC-428C-88F4-7771A31AB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컴퓨터의 이해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 →</a:t>
            </a:r>
            <a:r>
              <a:rPr lang="en-US" altLang="ko-KR" dirty="0"/>
              <a:t> </a:t>
            </a:r>
            <a:r>
              <a:rPr lang="ko-KR" altLang="en-US" dirty="0"/>
              <a:t>논리와 증명의 이해 필요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컴퓨터 →</a:t>
            </a:r>
            <a:r>
              <a:rPr lang="en-US" altLang="ko-KR" dirty="0"/>
              <a:t> </a:t>
            </a:r>
            <a:r>
              <a:rPr lang="ko-KR" altLang="en-US" dirty="0"/>
              <a:t>소프트웨어</a:t>
            </a:r>
            <a:r>
              <a:rPr lang="en-US" altLang="ko-KR" dirty="0"/>
              <a:t>, </a:t>
            </a:r>
            <a:r>
              <a:rPr lang="ko-KR" altLang="en-US" dirty="0"/>
              <a:t>하드웨어</a:t>
            </a:r>
            <a:r>
              <a:rPr lang="en-US" altLang="ko-KR" dirty="0"/>
              <a:t>, </a:t>
            </a:r>
            <a:r>
              <a:rPr lang="ko-KR" altLang="en-US" dirty="0"/>
              <a:t>알고리즘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배우는 순서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변수 →</a:t>
            </a:r>
            <a:r>
              <a:rPr lang="en-US" altLang="ko-KR" dirty="0"/>
              <a:t> </a:t>
            </a:r>
            <a:r>
              <a:rPr lang="ko-KR" altLang="en-US" dirty="0"/>
              <a:t>연산자 →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ko-KR" altLang="en-US" sz="2000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172763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84842-19EC-428C-88F4-7771A31AB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루틴 →</a:t>
            </a:r>
            <a:r>
              <a:rPr lang="en-US" altLang="ko-KR" dirty="0"/>
              <a:t> </a:t>
            </a:r>
            <a:r>
              <a:rPr lang="ko-KR" altLang="en-US" dirty="0"/>
              <a:t>일반화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  프로그래밍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함수 ← 연산자 ← 변수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ko-KR" altLang="en-US" sz="2000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192829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84842-19EC-428C-88F4-7771A31AB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392"/>
            <a:ext cx="10515600" cy="5849648"/>
          </a:xfrm>
        </p:spPr>
        <p:txBody>
          <a:bodyPr>
            <a:normAutofit/>
          </a:bodyPr>
          <a:lstStyle/>
          <a:p>
            <a:r>
              <a:rPr lang="en-US" altLang="ko-KR" dirty="0"/>
              <a:t>XOR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i="1" dirty="0">
                <a:ea typeface="Osaka" pitchFamily="-65" charset="-128"/>
                <a:sym typeface="Symbol" panose="05050102010706020507" pitchFamily="18" charset="2"/>
              </a:rPr>
              <a:t> </a:t>
            </a:r>
            <a:r>
              <a:rPr lang="ko-KR" altLang="en-US" dirty="0"/>
              <a:t>→ </a:t>
            </a:r>
            <a:r>
              <a:rPr lang="en-US" altLang="ko-KR" i="1" dirty="0" err="1">
                <a:ea typeface="Osaka" pitchFamily="-65" charset="-128"/>
                <a:sym typeface="Symbol" panose="05050102010706020507" pitchFamily="18" charset="2"/>
              </a:rPr>
              <a:t>p</a:t>
            </a:r>
            <a:r>
              <a:rPr lang="en-US" altLang="ko-KR" dirty="0" err="1">
                <a:ea typeface="Osaka" pitchFamily="-65" charset="-128"/>
                <a:sym typeface="Symbol" panose="05050102010706020507" pitchFamily="18" charset="2"/>
              </a:rPr>
              <a:t></a:t>
            </a:r>
            <a:r>
              <a:rPr lang="en-US" altLang="ko-KR" i="1" dirty="0" err="1">
                <a:ea typeface="Osaka" pitchFamily="-65" charset="-128"/>
                <a:sym typeface="Symbol" panose="05050102010706020507" pitchFamily="18" charset="2"/>
              </a:rPr>
              <a:t>q</a:t>
            </a:r>
            <a:r>
              <a:rPr lang="en-US" altLang="ko-KR" dirty="0">
                <a:ea typeface="Osaka" pitchFamily="-65" charset="-128"/>
                <a:sym typeface="Symbol" panose="05050102010706020507" pitchFamily="18" charset="2"/>
              </a:rPr>
              <a:t>  (</a:t>
            </a:r>
            <a:r>
              <a:rPr lang="en-US" altLang="ko-KR" i="1" dirty="0">
                <a:ea typeface="Osaka" pitchFamily="-65" charset="-128"/>
                <a:sym typeface="Symbol" panose="05050102010706020507" pitchFamily="18" charset="2"/>
              </a:rPr>
              <a:t>p</a:t>
            </a:r>
            <a:r>
              <a:rPr lang="en-US" altLang="ko-KR" dirty="0">
                <a:ea typeface="Osaka" pitchFamily="-65" charset="-128"/>
                <a:sym typeface="Symbol" panose="05050102010706020507" pitchFamily="18" charset="2"/>
              </a:rPr>
              <a:t>  </a:t>
            </a:r>
            <a:r>
              <a:rPr lang="en-US" altLang="ko-KR" i="1" dirty="0">
                <a:ea typeface="Osaka" pitchFamily="-65" charset="-128"/>
                <a:sym typeface="Symbol" panose="05050102010706020507" pitchFamily="18" charset="2"/>
              </a:rPr>
              <a:t>q</a:t>
            </a:r>
            <a:r>
              <a:rPr lang="en-US" altLang="ko-KR" dirty="0">
                <a:ea typeface="Osaka" pitchFamily="-65" charset="-128"/>
                <a:sym typeface="Symbol" panose="05050102010706020507" pitchFamily="18" charset="2"/>
              </a:rPr>
              <a:t>)  ¬(</a:t>
            </a:r>
            <a:r>
              <a:rPr lang="en-US" altLang="ko-KR" i="1" dirty="0">
                <a:ea typeface="Osaka" pitchFamily="-65" charset="-128"/>
                <a:sym typeface="Symbol" panose="05050102010706020507" pitchFamily="18" charset="2"/>
              </a:rPr>
              <a:t>p</a:t>
            </a:r>
            <a:r>
              <a:rPr lang="en-US" altLang="ko-KR" dirty="0">
                <a:ea typeface="Osaka" pitchFamily="-65" charset="-128"/>
                <a:sym typeface="Symbol" panose="05050102010706020507" pitchFamily="18" charset="2"/>
              </a:rPr>
              <a:t>  </a:t>
            </a:r>
            <a:r>
              <a:rPr lang="en-US" altLang="ko-KR" i="1" dirty="0">
                <a:ea typeface="Osaka" pitchFamily="-65" charset="-128"/>
                <a:sym typeface="Symbol" panose="05050102010706020507" pitchFamily="18" charset="2"/>
              </a:rPr>
              <a:t>q</a:t>
            </a:r>
            <a:r>
              <a:rPr lang="en-US" altLang="ko-KR" dirty="0">
                <a:ea typeface="Osaka" pitchFamily="-65" charset="-128"/>
                <a:sym typeface="Symbol" panose="05050102010706020507" pitchFamily="18" charset="2"/>
              </a:rPr>
              <a:t>)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 →</a:t>
            </a:r>
            <a:r>
              <a:rPr lang="en-US" altLang="ko-KR" dirty="0"/>
              <a:t> p</a:t>
            </a:r>
            <a:r>
              <a:rPr lang="ko-KR" altLang="en-US" dirty="0"/>
              <a:t>와 </a:t>
            </a:r>
            <a:r>
              <a:rPr lang="en-US" altLang="ko-KR" dirty="0"/>
              <a:t>q</a:t>
            </a:r>
            <a:r>
              <a:rPr lang="ko-KR" altLang="en-US" dirty="0"/>
              <a:t>의 값이 다른 경우 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 →</a:t>
            </a:r>
            <a:r>
              <a:rPr lang="en-US" altLang="ko-KR" dirty="0"/>
              <a:t> p</a:t>
            </a:r>
            <a:r>
              <a:rPr lang="ko-KR" altLang="en-US" dirty="0"/>
              <a:t>와 </a:t>
            </a:r>
            <a:r>
              <a:rPr lang="en-US" altLang="ko-KR" dirty="0"/>
              <a:t>q</a:t>
            </a:r>
            <a:r>
              <a:rPr lang="ko-KR" altLang="en-US" dirty="0"/>
              <a:t>의 값이 같은 경우 거짓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연산자의 의미 파악하고 예시 부여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잘못된 예시 → </a:t>
            </a:r>
            <a:r>
              <a:rPr lang="en-US" altLang="ko-KR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 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오늘은 토요일이다 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 </a:t>
            </a:r>
            <a:r>
              <a:rPr lang="en-US" altLang="ko-KR" sz="2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 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오늘은 내 생일이다</a:t>
            </a:r>
            <a:endParaRPr lang="en-US" altLang="ko-KR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ko-KR" sz="2000" i="1" dirty="0">
                <a:solidFill>
                  <a:schemeClr val="bg2">
                    <a:lumMod val="75000"/>
                  </a:schemeClr>
                </a:solidFill>
              </a:rPr>
              <a:t>p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가 참이고 </a:t>
            </a:r>
            <a:r>
              <a:rPr lang="en-US" altLang="ko-KR" sz="2000" i="1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가 참일 때 → 오늘은 토요일이고 내 생일이다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? (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</a:rPr>
              <a:t>성립 가능</a:t>
            </a:r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2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n-US" altLang="ko-KR" sz="1800" dirty="0">
                <a:solidFill>
                  <a:schemeClr val="bg2">
                    <a:lumMod val="75000"/>
                  </a:schemeClr>
                </a:solidFill>
              </a:rPr>
              <a:t>-</a:t>
            </a:r>
            <a:r>
              <a:rPr lang="en-US" altLang="ko-KR" sz="2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ko-KR" sz="1800" i="1" dirty="0">
                <a:solidFill>
                  <a:schemeClr val="bg2">
                    <a:lumMod val="75000"/>
                  </a:schemeClr>
                </a:solidFill>
              </a:rPr>
              <a:t>p</a:t>
            </a:r>
            <a:r>
              <a:rPr lang="ko-KR" altLang="en-US" sz="1800" dirty="0">
                <a:solidFill>
                  <a:schemeClr val="bg2">
                    <a:lumMod val="75000"/>
                  </a:schemeClr>
                </a:solidFill>
              </a:rPr>
              <a:t>와 </a:t>
            </a:r>
            <a:r>
              <a:rPr lang="en-US" altLang="ko-KR" sz="1800" i="1" dirty="0">
                <a:solidFill>
                  <a:schemeClr val="bg2">
                    <a:lumMod val="75000"/>
                  </a:schemeClr>
                </a:solidFill>
              </a:rPr>
              <a:t>q</a:t>
            </a:r>
            <a:r>
              <a:rPr lang="ko-KR" altLang="en-US" sz="1800" dirty="0">
                <a:solidFill>
                  <a:schemeClr val="bg2">
                    <a:lumMod val="75000"/>
                  </a:schemeClr>
                </a:solidFill>
              </a:rPr>
              <a:t>가 참일 때 거짓이어야 하지만 성립이 가능하다</a:t>
            </a:r>
            <a:endParaRPr lang="en-US" altLang="ko-KR" sz="1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/>
              <a:t>	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432800" y="909635"/>
            <a:ext cx="2921000" cy="420959"/>
          </a:xfrm>
        </p:spPr>
        <p:txBody>
          <a:bodyPr>
            <a:normAutofit/>
          </a:bodyPr>
          <a:lstStyle/>
          <a:p>
            <a:pPr algn="r"/>
            <a:r>
              <a:rPr lang="ko-KR" altLang="en-US" sz="2000" dirty="0"/>
              <a:t>가장 </a:t>
            </a:r>
            <a:r>
              <a:rPr lang="ko-KR" altLang="en-US" sz="2000"/>
              <a:t>중요한 내용과 </a:t>
            </a:r>
            <a:r>
              <a:rPr lang="ko-KR" altLang="en-US" sz="2000" dirty="0"/>
              <a:t>이유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A5219715-736D-4B97-9D88-055A9B60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264" y="1963392"/>
            <a:ext cx="3377096" cy="30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0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BD37FA-0C00-456A-86E7-260B26EE7890}"/>
              </a:ext>
            </a:extLst>
          </p:cNvPr>
          <p:cNvSpPr/>
          <p:nvPr/>
        </p:nvSpPr>
        <p:spPr>
          <a:xfrm>
            <a:off x="152400" y="596582"/>
            <a:ext cx="1584960" cy="87376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FEE1A8-7108-4908-98E0-57C55926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0" y="410368"/>
            <a:ext cx="12781280" cy="1325563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3</a:t>
            </a:r>
            <a:r>
              <a:rPr lang="ko-KR" altLang="en-US" sz="4000" dirty="0">
                <a:solidFill>
                  <a:schemeClr val="bg1"/>
                </a:solidFill>
              </a:rPr>
              <a:t>주차  </a:t>
            </a:r>
            <a:r>
              <a:rPr lang="en-US" altLang="ko-KR" sz="4000" dirty="0" err="1"/>
              <a:t>Propositional_Functions_Proof</a:t>
            </a:r>
            <a:r>
              <a:rPr lang="en-US" altLang="ko-KR" sz="4000" dirty="0"/>
              <a:t> Methods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DEF4A-C5EB-4B06-B62E-C32C446F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2004854"/>
            <a:ext cx="9489440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7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3200" dirty="0"/>
              <a:t>명제함수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개별적인 명제를 일반화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3200" dirty="0"/>
              <a:t>증명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특정 가정 하에 어떤 명제가 참임을 보여주는 것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3200" dirty="0"/>
              <a:t>증명 방법</a:t>
            </a:r>
          </a:p>
        </p:txBody>
      </p:sp>
    </p:spTree>
    <p:extLst>
      <p:ext uri="{BB962C8B-B14F-4D97-AF65-F5344CB8AC3E}">
        <p14:creationId xmlns:p14="http://schemas.microsoft.com/office/powerpoint/2010/main" val="170349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D82D9-74C1-4BB5-90B9-7F7BD329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DF66B3-8540-4FDA-A1A4-B01B471A0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명제함수 ← 명제를 </a:t>
            </a:r>
            <a:r>
              <a:rPr lang="en-US" altLang="ko-KR" dirty="0"/>
              <a:t>x</a:t>
            </a:r>
            <a:r>
              <a:rPr lang="ko-KR" altLang="en-US" dirty="0"/>
              <a:t>에 도입해 일반화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컴퓨터 시스템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대량의 인풋과 아웃풋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단순하고 반복적인 일 실행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명제함수의 중첩 → 패턴 </a:t>
            </a:r>
            <a:r>
              <a:rPr lang="en-US" altLang="ko-KR" dirty="0"/>
              <a:t>= </a:t>
            </a:r>
            <a:r>
              <a:rPr lang="ko-KR" altLang="en-US" dirty="0"/>
              <a:t>의미 → 증명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270822-FC10-4E55-B4F6-B39F3A80B8A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501855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3AF9A-D9F0-4944-AA7B-518834D8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FD82F2-37D0-4BB8-B5E5-B242EB6B4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가지의 증명 방법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/>
              <a:t>	1. Direct Proof</a:t>
            </a:r>
          </a:p>
          <a:p>
            <a:pPr marL="0" indent="0">
              <a:buNone/>
            </a:pPr>
            <a:r>
              <a:rPr lang="en-US" altLang="ko-KR" dirty="0"/>
              <a:t>	2. Indirect Proof</a:t>
            </a:r>
          </a:p>
          <a:p>
            <a:pPr marL="0" indent="0">
              <a:buNone/>
            </a:pPr>
            <a:r>
              <a:rPr lang="en-US" altLang="ko-KR" dirty="0"/>
              <a:t>	3. Proof by Contradiction</a:t>
            </a:r>
          </a:p>
          <a:p>
            <a:pPr marL="0" indent="0">
              <a:buNone/>
            </a:pPr>
            <a:r>
              <a:rPr lang="en-US" altLang="ko-KR" dirty="0"/>
              <a:t>	4. Proof by Case </a:t>
            </a:r>
          </a:p>
          <a:p>
            <a:pPr marL="0" indent="0">
              <a:buNone/>
            </a:pPr>
            <a:r>
              <a:rPr lang="en-US" altLang="ko-KR" dirty="0"/>
              <a:t>	5. Proof of Equivalence</a:t>
            </a:r>
          </a:p>
          <a:p>
            <a:pPr marL="0" indent="0">
              <a:buNone/>
            </a:pPr>
            <a:r>
              <a:rPr lang="en-US" altLang="ko-KR" dirty="0"/>
              <a:t>	6. Existence Proof</a:t>
            </a:r>
          </a:p>
          <a:p>
            <a:pPr marL="0" indent="0">
              <a:buNone/>
            </a:pPr>
            <a:r>
              <a:rPr lang="en-US" altLang="ko-KR" dirty="0"/>
              <a:t>	7. Unique Proof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D3FEEC-3153-4D29-89A0-91010534135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314077" y="921875"/>
            <a:ext cx="3039723" cy="608793"/>
          </a:xfrm>
        </p:spPr>
        <p:txBody>
          <a:bodyPr/>
          <a:lstStyle/>
          <a:p>
            <a:r>
              <a:rPr lang="ko-KR" altLang="en-US" dirty="0"/>
              <a:t>가장 </a:t>
            </a:r>
            <a:r>
              <a:rPr lang="ko-KR" altLang="en-US"/>
              <a:t>중요한 내용과 </a:t>
            </a:r>
            <a:r>
              <a:rPr lang="ko-KR" altLang="en-US" dirty="0"/>
              <a:t>이유</a:t>
            </a:r>
          </a:p>
        </p:txBody>
      </p:sp>
    </p:spTree>
    <p:extLst>
      <p:ext uri="{BB962C8B-B14F-4D97-AF65-F5344CB8AC3E}">
        <p14:creationId xmlns:p14="http://schemas.microsoft.com/office/powerpoint/2010/main" val="79609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BD37FA-0C00-456A-86E7-260B26EE7890}"/>
              </a:ext>
            </a:extLst>
          </p:cNvPr>
          <p:cNvSpPr/>
          <p:nvPr/>
        </p:nvSpPr>
        <p:spPr>
          <a:xfrm>
            <a:off x="477520" y="636269"/>
            <a:ext cx="1584960" cy="87376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FEE1A8-7108-4908-98E0-57C55926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8000" y="410368"/>
            <a:ext cx="13218160" cy="1325563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4</a:t>
            </a:r>
            <a:r>
              <a:rPr lang="ko-KR" altLang="en-US" sz="4000" dirty="0">
                <a:solidFill>
                  <a:schemeClr val="bg1"/>
                </a:solidFill>
              </a:rPr>
              <a:t>주차  </a:t>
            </a:r>
            <a:r>
              <a:rPr lang="en-US" altLang="ko-KR" sz="4000" dirty="0" err="1"/>
              <a:t>Set_Functions_Sequences_and_Sums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DEF4A-C5EB-4B06-B62E-C32C446F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2004854"/>
            <a:ext cx="9489440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3200" dirty="0"/>
              <a:t>집합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순서가 무시되는 모음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3200" dirty="0"/>
              <a:t>집합의 종류</a:t>
            </a:r>
            <a:r>
              <a:rPr lang="en-US" altLang="ko-KR" sz="3200" dirty="0"/>
              <a:t>, </a:t>
            </a:r>
            <a:r>
              <a:rPr lang="ko-KR" altLang="en-US" sz="3200" dirty="0"/>
              <a:t>연산</a:t>
            </a:r>
            <a:r>
              <a:rPr lang="en-US" altLang="ko-KR" sz="3200" dirty="0"/>
              <a:t>, </a:t>
            </a:r>
            <a:r>
              <a:rPr lang="ko-KR" altLang="en-US" sz="3200" dirty="0"/>
              <a:t>특성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3200" dirty="0"/>
              <a:t>함수의 정의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3200" dirty="0"/>
              <a:t>수열과 </a:t>
            </a:r>
            <a:r>
              <a:rPr lang="ko-KR" altLang="en-US" sz="3200" dirty="0" err="1"/>
              <a:t>수열합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18511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7DB64-236B-4957-95AD-5196E35E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B031A-2978-4E5C-AB22-AE07F140D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, </a:t>
            </a:r>
            <a:r>
              <a:rPr lang="ko-KR" altLang="en-US" dirty="0"/>
              <a:t>수열 → 도구로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집합 법칙 </a:t>
            </a:r>
            <a:r>
              <a:rPr lang="en-US" altLang="ko-KR" dirty="0"/>
              <a:t>= </a:t>
            </a:r>
            <a:r>
              <a:rPr lang="ko-KR" altLang="en-US" dirty="0"/>
              <a:t>명제 법칙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수열 → 공식 → 패턴 공식화 → 수열의 합 도출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06425A-1773-4A31-A0EA-D04688FBD22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159138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7DB64-236B-4957-95AD-5196E35E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B031A-2978-4E5C-AB22-AE07F140D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집합의 종류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N = {0, 1, 2, 3, …}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자연수</a:t>
            </a:r>
            <a:r>
              <a:rPr lang="en-US" altLang="ko-KR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dirty="0"/>
              <a:t>	- Z = {… -2, -1, 0, 1, …}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정수</a:t>
            </a:r>
            <a:endParaRPr lang="en-US" altLang="ko-KR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2800" dirty="0">
                <a:ea typeface="굴림" panose="020B0600000101010101" pitchFamily="50" charset="-127"/>
              </a:rPr>
              <a:t>	- Z</a:t>
            </a:r>
            <a:r>
              <a:rPr lang="en-US" altLang="ko-KR" sz="2800" baseline="30000" dirty="0">
                <a:ea typeface="굴림" panose="020B0600000101010101" pitchFamily="50" charset="-127"/>
              </a:rPr>
              <a:t>+</a:t>
            </a:r>
            <a:r>
              <a:rPr lang="en-US" altLang="ko-KR" dirty="0"/>
              <a:t> = {1, 2, 3, …}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양의 정수</a:t>
            </a:r>
            <a:endParaRPr lang="en-US" altLang="ko-KR" sz="2000" baseline="30000" dirty="0">
              <a:solidFill>
                <a:schemeClr val="bg2">
                  <a:lumMod val="50000"/>
                </a:schemeClr>
              </a:solidFill>
              <a:ea typeface="굴림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baseline="30000" dirty="0">
                <a:ea typeface="굴림" panose="020B0600000101010101" pitchFamily="50" charset="-127"/>
              </a:rPr>
              <a:t>	</a:t>
            </a:r>
            <a:r>
              <a:rPr lang="en-US" altLang="ko-KR" dirty="0"/>
              <a:t>- Q = </a:t>
            </a:r>
            <a:r>
              <a:rPr lang="en-US" altLang="ko-KR" sz="2800" dirty="0">
                <a:ea typeface="굴림" panose="020B0600000101010101" pitchFamily="50" charset="-127"/>
              </a:rPr>
              <a:t>{</a:t>
            </a:r>
            <a:r>
              <a:rPr lang="en-US" altLang="ko-KR" sz="2800" i="1" dirty="0"/>
              <a:t>p </a:t>
            </a:r>
            <a:r>
              <a:rPr lang="en-US" altLang="ko-KR" sz="2800" dirty="0"/>
              <a:t>/</a:t>
            </a:r>
            <a:r>
              <a:rPr lang="en-US" altLang="ko-KR" sz="2800" i="1" dirty="0"/>
              <a:t>q</a:t>
            </a:r>
            <a:r>
              <a:rPr lang="en-US" altLang="ko-KR" sz="2800" dirty="0"/>
              <a:t> | </a:t>
            </a:r>
            <a:r>
              <a:rPr lang="en-US" altLang="ko-KR" sz="2800" i="1" dirty="0"/>
              <a:t>p</a:t>
            </a:r>
            <a:r>
              <a:rPr lang="en-US" altLang="ko-KR" sz="2800" dirty="0"/>
              <a:t> </a:t>
            </a:r>
            <a:r>
              <a:rPr lang="en-US" altLang="ko-KR" sz="2800" dirty="0">
                <a:ea typeface="굴림" panose="020B0600000101010101" pitchFamily="50" charset="-127"/>
                <a:sym typeface="Symbol" panose="05050102010706020507" pitchFamily="18" charset="2"/>
              </a:rPr>
              <a:t></a:t>
            </a:r>
            <a:r>
              <a:rPr lang="en-US" altLang="ko-KR" sz="2800" dirty="0">
                <a:ea typeface="굴림" panose="020B0600000101010101" pitchFamily="50" charset="-127"/>
              </a:rPr>
              <a:t> </a:t>
            </a:r>
            <a:r>
              <a:rPr lang="en-US" altLang="ko-KR" sz="2800" b="1" dirty="0">
                <a:ea typeface="굴림" panose="020B0600000101010101" pitchFamily="50" charset="-127"/>
              </a:rPr>
              <a:t>Z</a:t>
            </a:r>
            <a:r>
              <a:rPr lang="en-US" altLang="ko-KR" sz="2800" dirty="0">
                <a:ea typeface="굴림" panose="020B0600000101010101" pitchFamily="50" charset="-127"/>
              </a:rPr>
              <a:t>, </a:t>
            </a:r>
            <a:r>
              <a:rPr lang="en-US" altLang="ko-KR" sz="2800" i="1" dirty="0">
                <a:ea typeface="굴림" panose="020B0600000101010101" pitchFamily="50" charset="-127"/>
              </a:rPr>
              <a:t>q</a:t>
            </a:r>
            <a:r>
              <a:rPr lang="en-US" altLang="ko-KR" sz="2800" dirty="0">
                <a:ea typeface="굴림" panose="020B0600000101010101" pitchFamily="50" charset="-127"/>
              </a:rPr>
              <a:t> </a:t>
            </a:r>
            <a:r>
              <a:rPr lang="en-US" altLang="ko-KR" sz="2800" dirty="0">
                <a:ea typeface="굴림" panose="020B0600000101010101" pitchFamily="50" charset="-127"/>
                <a:sym typeface="Symbol" panose="05050102010706020507" pitchFamily="18" charset="2"/>
              </a:rPr>
              <a:t></a:t>
            </a:r>
            <a:r>
              <a:rPr lang="en-US" altLang="ko-KR" sz="2800" dirty="0">
                <a:ea typeface="굴림" panose="020B0600000101010101" pitchFamily="50" charset="-127"/>
              </a:rPr>
              <a:t> </a:t>
            </a:r>
            <a:r>
              <a:rPr lang="en-US" altLang="ko-KR" sz="2800" b="1" dirty="0">
                <a:ea typeface="굴림" panose="020B0600000101010101" pitchFamily="50" charset="-127"/>
              </a:rPr>
              <a:t>Z</a:t>
            </a:r>
            <a:r>
              <a:rPr lang="en-US" altLang="ko-KR" sz="2800" dirty="0">
                <a:ea typeface="굴림" panose="020B0600000101010101" pitchFamily="50" charset="-127"/>
              </a:rPr>
              <a:t>, </a:t>
            </a:r>
            <a:r>
              <a:rPr lang="en-US" altLang="ko-KR" sz="2800" i="1" dirty="0">
                <a:ea typeface="굴림" panose="020B0600000101010101" pitchFamily="50" charset="-127"/>
              </a:rPr>
              <a:t>q</a:t>
            </a:r>
            <a:r>
              <a:rPr lang="en-US" altLang="ko-KR" sz="2800" dirty="0">
                <a:ea typeface="굴림" panose="020B0600000101010101" pitchFamily="50" charset="-127"/>
              </a:rPr>
              <a:t> ≠ 0}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유리수</a:t>
            </a:r>
            <a:endParaRPr lang="en-US" altLang="ko-KR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/>
              <a:t>	- R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실수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06425A-1773-4A31-A0EA-D04688FBD22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가장 중요한 내용과 이유</a:t>
            </a:r>
          </a:p>
        </p:txBody>
      </p:sp>
    </p:spTree>
    <p:extLst>
      <p:ext uri="{BB962C8B-B14F-4D97-AF65-F5344CB8AC3E}">
        <p14:creationId xmlns:p14="http://schemas.microsoft.com/office/powerpoint/2010/main" val="279850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7DB64-236B-4957-95AD-5196E35E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B031A-2978-4E5C-AB22-AE07F140D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391"/>
            <a:ext cx="10515600" cy="6763166"/>
          </a:xfrm>
        </p:spPr>
        <p:txBody>
          <a:bodyPr>
            <a:normAutofit/>
          </a:bodyPr>
          <a:lstStyle/>
          <a:p>
            <a:r>
              <a:rPr lang="ko-KR" altLang="en-US" dirty="0"/>
              <a:t>집합의 종류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전체집합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공집합 </a:t>
            </a:r>
            <a:r>
              <a:rPr lang="en-US" altLang="ko-KR" dirty="0"/>
              <a:t>	</a:t>
            </a:r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진부분집합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집합의 연산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합집합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원소를 한 군데에 합침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교집합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두 집합이 공통으로 포함하는 원소로 이루어진 집합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 err="1"/>
              <a:t>차집합</a:t>
            </a:r>
            <a:r>
              <a:rPr lang="ko-KR" altLang="en-US" dirty="0"/>
              <a:t>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← 여집합 </a:t>
            </a:r>
            <a:r>
              <a:rPr lang="en-US" altLang="ko-KR" sz="2000" dirty="0">
                <a:solidFill>
                  <a:schemeClr val="bg2">
                    <a:lumMod val="50000"/>
                  </a:schemeClr>
                </a:solidFill>
              </a:rPr>
              <a:t>AC = 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전체집합 </a:t>
            </a:r>
            <a:r>
              <a:rPr lang="en-US" altLang="ko-KR" sz="2000" dirty="0">
                <a:solidFill>
                  <a:schemeClr val="bg2">
                    <a:lumMod val="50000"/>
                  </a:schemeClr>
                </a:solidFill>
              </a:rPr>
              <a:t>U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의 원소 중 </a:t>
            </a:r>
            <a:r>
              <a:rPr lang="en-US" altLang="ko-KR" sz="2000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ko-KR" altLang="en-US" sz="2000" dirty="0">
                <a:solidFill>
                  <a:schemeClr val="bg2">
                    <a:lumMod val="50000"/>
                  </a:schemeClr>
                </a:solidFill>
              </a:rPr>
              <a:t>의 원소가 아닌 것들</a:t>
            </a:r>
            <a:endParaRPr lang="en-US" altLang="ko-KR" sz="20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2000" dirty="0">
                <a:solidFill>
                  <a:schemeClr val="bg2">
                    <a:lumMod val="50000"/>
                  </a:schemeClr>
                </a:solidFill>
              </a:rPr>
              <a:t>	</a:t>
            </a:r>
            <a:endParaRPr lang="en-US" altLang="ko-KR" sz="20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06425A-1773-4A31-A0EA-D04688FBD22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가장 중요한 내용과 이유</a:t>
            </a:r>
          </a:p>
        </p:txBody>
      </p:sp>
    </p:spTree>
    <p:extLst>
      <p:ext uri="{BB962C8B-B14F-4D97-AF65-F5344CB8AC3E}">
        <p14:creationId xmlns:p14="http://schemas.microsoft.com/office/powerpoint/2010/main" val="208192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BD37FA-0C00-456A-86E7-260B26EE7890}"/>
              </a:ext>
            </a:extLst>
          </p:cNvPr>
          <p:cNvSpPr/>
          <p:nvPr/>
        </p:nvSpPr>
        <p:spPr>
          <a:xfrm>
            <a:off x="2987040" y="636269"/>
            <a:ext cx="1584960" cy="87376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FEE1A8-7108-4908-98E0-57C55926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2400" y="410368"/>
            <a:ext cx="13761720" cy="1325563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5</a:t>
            </a:r>
            <a:r>
              <a:rPr lang="ko-KR" altLang="en-US" sz="4000" dirty="0">
                <a:solidFill>
                  <a:schemeClr val="bg1"/>
                </a:solidFill>
              </a:rPr>
              <a:t>주차  </a:t>
            </a:r>
            <a:r>
              <a:rPr lang="en-US" altLang="ko-KR" sz="4000" dirty="0"/>
              <a:t>Algorithm_1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DEF4A-C5EB-4B06-B62E-C32C446F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2243390"/>
            <a:ext cx="9489440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3200" dirty="0"/>
              <a:t>알고리즘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Linear search / Binary search / Bubble sort 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3200" dirty="0"/>
              <a:t>알고리즘의 특성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3200" dirty="0"/>
              <a:t>점근선법</a:t>
            </a:r>
          </a:p>
        </p:txBody>
      </p:sp>
    </p:spTree>
    <p:extLst>
      <p:ext uri="{BB962C8B-B14F-4D97-AF65-F5344CB8AC3E}">
        <p14:creationId xmlns:p14="http://schemas.microsoft.com/office/powerpoint/2010/main" val="3363531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669837A-53BE-4B3E-B423-83FB9871E8C9}"/>
              </a:ext>
            </a:extLst>
          </p:cNvPr>
          <p:cNvSpPr/>
          <p:nvPr/>
        </p:nvSpPr>
        <p:spPr>
          <a:xfrm>
            <a:off x="2093661" y="4504076"/>
            <a:ext cx="3739580" cy="498848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8B0480-DE28-4A68-A83F-69057875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62D99-1051-4DBC-BA80-2A1596B24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알고리즘 → 프로그래밍 언어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알고리즘 특성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명확한 정의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/>
              <a:t>유한성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dirty="0">
                <a:solidFill>
                  <a:schemeClr val="bg1"/>
                </a:solidFill>
              </a:rPr>
              <a:t>모든 프로그램 적용 가능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EA46E2-AEF6-44DD-88C7-FF4F300E4EE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3700952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B0480-DE28-4A68-A83F-69057875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62D99-1051-4DBC-BA80-2A1596B24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알고리즘의 복잡도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← 점근선법을 통해 알 수 있음 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점근선법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 →</a:t>
            </a:r>
            <a:r>
              <a:rPr lang="en-US" altLang="ko-KR" dirty="0"/>
              <a:t> big-O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상한선 기준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 →</a:t>
            </a:r>
            <a:r>
              <a:rPr lang="en-US" altLang="ko-KR" dirty="0"/>
              <a:t> big-Omega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하한선 기준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 →</a:t>
            </a:r>
            <a:r>
              <a:rPr lang="en-US" altLang="ko-KR" dirty="0"/>
              <a:t> big-Theta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상한선과 하한선 사이를 기준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EA46E2-AEF6-44DD-88C7-FF4F300E4EE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가장 중요한 내용과 이유</a:t>
            </a:r>
          </a:p>
        </p:txBody>
      </p:sp>
    </p:spTree>
    <p:extLst>
      <p:ext uri="{BB962C8B-B14F-4D97-AF65-F5344CB8AC3E}">
        <p14:creationId xmlns:p14="http://schemas.microsoft.com/office/powerpoint/2010/main" val="3318804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BD37FA-0C00-456A-86E7-260B26EE7890}"/>
              </a:ext>
            </a:extLst>
          </p:cNvPr>
          <p:cNvSpPr/>
          <p:nvPr/>
        </p:nvSpPr>
        <p:spPr>
          <a:xfrm>
            <a:off x="2987040" y="636269"/>
            <a:ext cx="1584960" cy="87376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FEE1A8-7108-4908-98E0-57C55926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2400" y="410368"/>
            <a:ext cx="13761720" cy="1325563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7</a:t>
            </a:r>
            <a:r>
              <a:rPr lang="ko-KR" altLang="en-US" sz="4000" dirty="0">
                <a:solidFill>
                  <a:schemeClr val="bg1"/>
                </a:solidFill>
              </a:rPr>
              <a:t>주차  </a:t>
            </a:r>
            <a:r>
              <a:rPr lang="en-US" altLang="ko-KR" sz="4000" dirty="0"/>
              <a:t>Algorithm_2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DEF4A-C5EB-4B06-B62E-C32C446F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2273209"/>
            <a:ext cx="9489440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ko-KR" altLang="en-US" sz="3200" dirty="0"/>
              <a:t>알고리즘의 복잡도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시간 복잡도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공간 복잡도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altLang="ko-KR" sz="3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ko-KR" altLang="en-US" sz="3200" dirty="0"/>
              <a:t>알고리즘의 복잡도 분석</a:t>
            </a:r>
            <a:endParaRPr lang="en-US" altLang="ko-KR" sz="3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Linear search / Binary search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Bubble sort / Merge sort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133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B9EAAB8-5483-4DA9-98EE-CABC0402C0E4}"/>
              </a:ext>
            </a:extLst>
          </p:cNvPr>
          <p:cNvSpPr/>
          <p:nvPr/>
        </p:nvSpPr>
        <p:spPr>
          <a:xfrm>
            <a:off x="4194313" y="4621860"/>
            <a:ext cx="3329609" cy="725392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4BCD5-2188-4486-8F88-8E965373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알고리즘의 복잡도 측정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 복잡도 낮은 알고리즘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</a:t>
            </a:r>
            <a:r>
              <a:rPr lang="ko-KR" altLang="en-US" sz="3200" dirty="0"/>
              <a:t> → 효율적인 아이디어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	</a:t>
            </a:r>
            <a:r>
              <a:rPr lang="ko-KR" altLang="en-US" sz="3200" dirty="0"/>
              <a:t> → </a:t>
            </a:r>
            <a:r>
              <a:rPr lang="ko-KR" altLang="en-US" sz="3200" dirty="0">
                <a:solidFill>
                  <a:schemeClr val="bg1"/>
                </a:solidFill>
              </a:rPr>
              <a:t>창의적인 알고리즘</a:t>
            </a:r>
            <a:r>
              <a:rPr lang="en-US" altLang="ko-KR" sz="3200" dirty="0">
                <a:solidFill>
                  <a:schemeClr val="bg1"/>
                </a:solidFill>
              </a:rPr>
              <a:t> </a:t>
            </a:r>
            <a:r>
              <a:rPr lang="ko-KR" altLang="en-US" sz="3200" dirty="0"/>
              <a:t>→ 가치 상승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3416985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C8EEAD-FA88-4625-B99D-3D811322DCE9}"/>
              </a:ext>
            </a:extLst>
          </p:cNvPr>
          <p:cNvSpPr/>
          <p:nvPr/>
        </p:nvSpPr>
        <p:spPr>
          <a:xfrm>
            <a:off x="8024192" y="4621860"/>
            <a:ext cx="1745974" cy="725392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4BCD5-2188-4486-8F88-8E965373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알고리즘의 복잡도 측정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 복잡도 낮은 알고리즘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</a:t>
            </a:r>
            <a:r>
              <a:rPr lang="ko-KR" altLang="en-US" sz="3200" dirty="0"/>
              <a:t> → 효율적인 아이디어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	</a:t>
            </a:r>
            <a:r>
              <a:rPr lang="ko-KR" altLang="en-US" sz="3200" dirty="0"/>
              <a:t> → 창의적인 알고리즘</a:t>
            </a:r>
            <a:r>
              <a:rPr lang="en-US" altLang="ko-KR" sz="3200" dirty="0"/>
              <a:t> </a:t>
            </a:r>
            <a:r>
              <a:rPr lang="ko-KR" altLang="en-US" sz="3200" dirty="0"/>
              <a:t>→ </a:t>
            </a:r>
            <a:r>
              <a:rPr lang="ko-KR" altLang="en-US" sz="3200" dirty="0">
                <a:solidFill>
                  <a:schemeClr val="bg1"/>
                </a:solidFill>
              </a:rPr>
              <a:t>가치 상승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2356395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B9EAAB8-5483-4DA9-98EE-CABC0402C0E4}"/>
              </a:ext>
            </a:extLst>
          </p:cNvPr>
          <p:cNvSpPr/>
          <p:nvPr/>
        </p:nvSpPr>
        <p:spPr>
          <a:xfrm>
            <a:off x="4194313" y="4621860"/>
            <a:ext cx="3329609" cy="725392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4BCD5-2188-4486-8F88-8E965373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알고리즘의 복잡도 측정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 복잡도 낮은 알고리즘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</a:t>
            </a:r>
            <a:r>
              <a:rPr lang="ko-KR" altLang="en-US" sz="3200" dirty="0"/>
              <a:t> → 효율적인 아이디어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	</a:t>
            </a:r>
            <a:r>
              <a:rPr lang="ko-KR" altLang="en-US" sz="3200" dirty="0"/>
              <a:t> → </a:t>
            </a:r>
            <a:r>
              <a:rPr lang="ko-KR" altLang="en-US" sz="3200" dirty="0">
                <a:solidFill>
                  <a:schemeClr val="bg1"/>
                </a:solidFill>
              </a:rPr>
              <a:t>창의적인 알고리즘</a:t>
            </a:r>
            <a:r>
              <a:rPr lang="en-US" altLang="ko-KR" sz="3200" dirty="0">
                <a:solidFill>
                  <a:schemeClr val="bg1"/>
                </a:solidFill>
              </a:rPr>
              <a:t> </a:t>
            </a:r>
            <a:r>
              <a:rPr lang="ko-KR" altLang="en-US" sz="3200" dirty="0"/>
              <a:t>→ 가치 상승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917956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85F2E57-2868-4F39-8634-460EC8AD5042}"/>
              </a:ext>
            </a:extLst>
          </p:cNvPr>
          <p:cNvSpPr/>
          <p:nvPr/>
        </p:nvSpPr>
        <p:spPr>
          <a:xfrm>
            <a:off x="3309732" y="3776365"/>
            <a:ext cx="3289852" cy="725392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4BCD5-2188-4486-8F88-8E965373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알고리즘의 복잡도 측정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 복잡도 낮은 알고리즘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</a:t>
            </a:r>
            <a:r>
              <a:rPr lang="ko-KR" altLang="en-US" sz="3200" dirty="0"/>
              <a:t> → </a:t>
            </a:r>
            <a:r>
              <a:rPr lang="ko-KR" altLang="en-US" sz="3200" dirty="0">
                <a:solidFill>
                  <a:schemeClr val="bg1"/>
                </a:solidFill>
              </a:rPr>
              <a:t>효율적인 아이디어</a:t>
            </a:r>
            <a:endParaRPr lang="en-US" altLang="ko-KR" sz="32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	</a:t>
            </a:r>
            <a:r>
              <a:rPr lang="ko-KR" altLang="en-US" sz="3200" dirty="0"/>
              <a:t> → 창의적인 알고리즘</a:t>
            </a:r>
            <a:r>
              <a:rPr lang="en-US" altLang="ko-KR" sz="3200" dirty="0"/>
              <a:t> </a:t>
            </a:r>
            <a:r>
              <a:rPr lang="ko-KR" altLang="en-US" sz="3200" dirty="0"/>
              <a:t>→ 가치 상승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2081515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A5FB326-1166-4E59-A215-772629224D17}"/>
              </a:ext>
            </a:extLst>
          </p:cNvPr>
          <p:cNvSpPr/>
          <p:nvPr/>
        </p:nvSpPr>
        <p:spPr>
          <a:xfrm>
            <a:off x="2417425" y="2912329"/>
            <a:ext cx="3764714" cy="725392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4BCD5-2188-4486-8F88-8E965373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알고리즘의 복잡도 측정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 </a:t>
            </a:r>
            <a:r>
              <a:rPr lang="ko-KR" altLang="en-US" sz="3200" dirty="0">
                <a:solidFill>
                  <a:schemeClr val="bg1"/>
                </a:solidFill>
              </a:rPr>
              <a:t>복잡도 낮은 알고리즘</a:t>
            </a:r>
            <a:endParaRPr lang="en-US" altLang="ko-KR" sz="32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</a:t>
            </a:r>
            <a:r>
              <a:rPr lang="ko-KR" altLang="en-US" sz="3200" dirty="0"/>
              <a:t> → 효율적인 아이디어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	</a:t>
            </a:r>
            <a:r>
              <a:rPr lang="ko-KR" altLang="en-US" sz="3200" dirty="0"/>
              <a:t> → 창의적인 알고리즘</a:t>
            </a:r>
            <a:r>
              <a:rPr lang="en-US" altLang="ko-KR" sz="3200" dirty="0"/>
              <a:t> </a:t>
            </a:r>
            <a:r>
              <a:rPr lang="ko-KR" altLang="en-US" sz="3200" dirty="0"/>
              <a:t>→ 가치 상승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3442700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A5FB326-1166-4E59-A215-772629224D17}"/>
              </a:ext>
            </a:extLst>
          </p:cNvPr>
          <p:cNvSpPr/>
          <p:nvPr/>
        </p:nvSpPr>
        <p:spPr>
          <a:xfrm>
            <a:off x="1103244" y="2067503"/>
            <a:ext cx="4174434" cy="725392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4BCD5-2188-4486-8F88-8E965373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chemeClr val="bg1"/>
                </a:solidFill>
              </a:rPr>
              <a:t>알고리즘의 복잡도 측정</a:t>
            </a:r>
            <a:endParaRPr lang="en-US" altLang="ko-KR" sz="32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 복잡도 낮은 알고리즘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</a:t>
            </a:r>
            <a:r>
              <a:rPr lang="ko-KR" altLang="en-US" sz="3200" dirty="0"/>
              <a:t> → 효율적인 아이디어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			</a:t>
            </a:r>
            <a:r>
              <a:rPr lang="ko-KR" altLang="en-US" sz="3200" dirty="0"/>
              <a:t> → 창의적인 알고리즘</a:t>
            </a:r>
            <a:r>
              <a:rPr lang="en-US" altLang="ko-KR" sz="3200" dirty="0"/>
              <a:t> </a:t>
            </a:r>
            <a:r>
              <a:rPr lang="ko-KR" altLang="en-US" sz="3200" dirty="0"/>
              <a:t>→ 가치 상승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배워야 하는 이유</a:t>
            </a:r>
          </a:p>
        </p:txBody>
      </p:sp>
    </p:spTree>
    <p:extLst>
      <p:ext uri="{BB962C8B-B14F-4D97-AF65-F5344CB8AC3E}">
        <p14:creationId xmlns:p14="http://schemas.microsoft.com/office/powerpoint/2010/main" val="420692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3E1690B-E998-44BB-9949-0B1D5D7C2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sz="2800" dirty="0"/>
          </a:p>
          <a:p>
            <a:pPr marL="0" indent="0">
              <a:buNone/>
            </a:pPr>
            <a:r>
              <a:rPr lang="ko-KR" altLang="en-US" sz="2800" dirty="0"/>
              <a:t>→ 공간보단 속도가 고려대상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가장 중요한 내용과 이유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E4D35CF8-EE9A-44A3-B6A0-4DDCABE23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636730"/>
              </p:ext>
            </p:extLst>
          </p:nvPr>
        </p:nvGraphicFramePr>
        <p:xfrm>
          <a:off x="838200" y="2415718"/>
          <a:ext cx="7511392" cy="2435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5696">
                  <a:extLst>
                    <a:ext uri="{9D8B030D-6E8A-4147-A177-3AD203B41FA5}">
                      <a16:colId xmlns:a16="http://schemas.microsoft.com/office/drawing/2014/main" val="1012340566"/>
                    </a:ext>
                  </a:extLst>
                </a:gridCol>
                <a:gridCol w="3755696">
                  <a:extLst>
                    <a:ext uri="{9D8B030D-6E8A-4147-A177-3AD203B41FA5}">
                      <a16:colId xmlns:a16="http://schemas.microsoft.com/office/drawing/2014/main" val="120604813"/>
                    </a:ext>
                  </a:extLst>
                </a:gridCol>
              </a:tblGrid>
              <a:tr h="6581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3200" dirty="0">
                          <a:latin typeface="+mj-ea"/>
                          <a:ea typeface="+mj-ea"/>
                        </a:rPr>
                        <a:t>Merge</a:t>
                      </a:r>
                      <a:r>
                        <a:rPr lang="ko-KR" altLang="en-US" sz="32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3200" dirty="0">
                          <a:latin typeface="+mj-ea"/>
                          <a:ea typeface="+mj-ea"/>
                        </a:rPr>
                        <a:t>sort </a:t>
                      </a:r>
                      <a:endParaRPr lang="ko-KR" altLang="en-US" sz="32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33136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3200" dirty="0">
                          <a:latin typeface="+mj-ea"/>
                          <a:ea typeface="+mj-ea"/>
                        </a:rPr>
                        <a:t>Bubble sort</a:t>
                      </a:r>
                      <a:endParaRPr lang="ko-KR" altLang="en-US" sz="3200" dirty="0">
                        <a:latin typeface="+mj-ea"/>
                        <a:ea typeface="+mj-ea"/>
                      </a:endParaRPr>
                    </a:p>
                  </a:txBody>
                  <a:tcPr>
                    <a:solidFill>
                      <a:srgbClr val="331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924066"/>
                  </a:ext>
                </a:extLst>
              </a:tr>
              <a:tr h="5686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+mj-ea"/>
                          <a:ea typeface="+mj-ea"/>
                        </a:rPr>
                        <a:t>가상 공간 필요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+mj-ea"/>
                          <a:ea typeface="+mj-ea"/>
                        </a:rPr>
                        <a:t>가상 공간 필요 없음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025488"/>
                  </a:ext>
                </a:extLst>
              </a:tr>
              <a:tr h="5465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+mj-ea"/>
                          <a:ea typeface="+mj-ea"/>
                        </a:rPr>
                        <a:t>속도 빠름</a:t>
                      </a: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+mj-ea"/>
                          <a:ea typeface="+mj-ea"/>
                        </a:rPr>
                        <a:t>속도 느림</a:t>
                      </a: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445198"/>
                  </a:ext>
                </a:extLst>
              </a:tr>
              <a:tr h="56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+mj-ea"/>
                          <a:ea typeface="+mj-ea"/>
                        </a:rPr>
                        <a:t>가상 공간에 값 할당해 수 비교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+mj-ea"/>
                          <a:ea typeface="+mj-ea"/>
                        </a:rPr>
                        <a:t>단지 비교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0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566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A577080-49E8-40E6-953C-73F61F68318D}"/>
              </a:ext>
            </a:extLst>
          </p:cNvPr>
          <p:cNvSpPr/>
          <p:nvPr/>
        </p:nvSpPr>
        <p:spPr>
          <a:xfrm>
            <a:off x="2396403" y="5870421"/>
            <a:ext cx="2144065" cy="667013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4BCD5-2188-4486-8F88-8E9653737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391"/>
            <a:ext cx="10515600" cy="56250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3200" dirty="0"/>
              <a:t>프로그래밍을 위해 컴퓨터 자체 이해 필요</a:t>
            </a:r>
            <a:endParaRPr lang="en-US" altLang="ko-KR" sz="32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</a:t>
            </a:r>
            <a:r>
              <a:rPr lang="en-US" altLang="ko-KR" sz="3200" dirty="0"/>
              <a:t> </a:t>
            </a:r>
            <a:r>
              <a:rPr lang="ko-KR" altLang="en-US" sz="3200" dirty="0"/>
              <a:t>틀이 되는 함수 </a:t>
            </a:r>
            <a:r>
              <a:rPr lang="en-US" altLang="ko-KR" sz="3200" dirty="0"/>
              <a:t>(</a:t>
            </a:r>
            <a:r>
              <a:rPr lang="ko-KR" altLang="en-US" sz="3200" dirty="0"/>
              <a:t>연산자</a:t>
            </a:r>
            <a:r>
              <a:rPr lang="en-US" altLang="ko-KR" sz="3200" dirty="0"/>
              <a:t>, </a:t>
            </a:r>
            <a:r>
              <a:rPr lang="ko-KR" altLang="en-US" sz="3200" dirty="0"/>
              <a:t>변수</a:t>
            </a:r>
            <a:r>
              <a:rPr lang="en-US" altLang="ko-KR" sz="32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sz="32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3200" dirty="0"/>
              <a:t>효율적인 알고리즘 필요</a:t>
            </a:r>
            <a:endParaRPr lang="en-US" altLang="ko-KR" sz="32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</a:t>
            </a:r>
            <a:r>
              <a:rPr lang="en-US" altLang="ko-KR" sz="3200" dirty="0"/>
              <a:t> </a:t>
            </a:r>
            <a:r>
              <a:rPr lang="ko-KR" altLang="en-US" sz="3200" dirty="0"/>
              <a:t>복잡도가 낮은 알고리즘</a:t>
            </a:r>
            <a:endParaRPr lang="en-US" altLang="ko-KR" sz="32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ko-KR" sz="32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3200" dirty="0"/>
              <a:t>효율적으로 코드 작성하는 법</a:t>
            </a:r>
            <a:endParaRPr lang="en-US" altLang="ko-KR" sz="32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ko-KR" sz="3200" dirty="0"/>
              <a:t>	</a:t>
            </a:r>
            <a:r>
              <a:rPr lang="ko-KR" altLang="en-US" sz="3200" dirty="0"/>
              <a:t> → </a:t>
            </a:r>
            <a:r>
              <a:rPr lang="ko-KR" altLang="en-US" sz="3200" dirty="0">
                <a:solidFill>
                  <a:schemeClr val="bg1"/>
                </a:solidFill>
              </a:rPr>
              <a:t>컴퓨터 수학</a:t>
            </a:r>
            <a:endParaRPr lang="en-US" altLang="ko-KR" sz="3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3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E168CE-BB90-4CB4-8421-8154705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마무리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D4EA6D-4E8C-424E-B786-3945FC2DD9A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ko-KR" altLang="en-US" dirty="0"/>
              <a:t>내용 정리</a:t>
            </a:r>
          </a:p>
        </p:txBody>
      </p:sp>
    </p:spTree>
    <p:extLst>
      <p:ext uri="{BB962C8B-B14F-4D97-AF65-F5344CB8AC3E}">
        <p14:creationId xmlns:p14="http://schemas.microsoft.com/office/powerpoint/2010/main" val="3887043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6D0919-F2E6-469A-869B-3844227D54C4}"/>
              </a:ext>
            </a:extLst>
          </p:cNvPr>
          <p:cNvSpPr/>
          <p:nvPr/>
        </p:nvSpPr>
        <p:spPr>
          <a:xfrm>
            <a:off x="3867805" y="2907936"/>
            <a:ext cx="4466897" cy="990908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7FA962-A380-4D05-B977-914D50E8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1244"/>
            <a:ext cx="9144000" cy="2387600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617838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맑은 고딕"/>
        <a:ea typeface="나눔스퀘어라운드 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823</Words>
  <Application>Microsoft Office PowerPoint</Application>
  <PresentationFormat>와이드스크린</PresentationFormat>
  <Paragraphs>202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티머니 둥근바람 ExtraBold</vt:lpstr>
      <vt:lpstr>티머니 둥근바람 Regular</vt:lpstr>
      <vt:lpstr>맑은 고딕</vt:lpstr>
      <vt:lpstr>Arial</vt:lpstr>
      <vt:lpstr>나눔스퀘어라운드 ExtraBold</vt:lpstr>
      <vt:lpstr>Office 테마</vt:lpstr>
      <vt:lpstr>컴퓨터 수학 중간 과제</vt:lpstr>
      <vt:lpstr>2주차  Propotional_logic_equivalence</vt:lpstr>
      <vt:lpstr>2주차</vt:lpstr>
      <vt:lpstr>2주차</vt:lpstr>
      <vt:lpstr>2주차</vt:lpstr>
      <vt:lpstr>3주차  Propositional_Functions_Proof Methods</vt:lpstr>
      <vt:lpstr>3주차</vt:lpstr>
      <vt:lpstr>3주차</vt:lpstr>
      <vt:lpstr>4주차  Set_Functions_Sequences_and_Sums</vt:lpstr>
      <vt:lpstr>4주차</vt:lpstr>
      <vt:lpstr>4주차</vt:lpstr>
      <vt:lpstr>4주차</vt:lpstr>
      <vt:lpstr>5주차  Algorithm_1</vt:lpstr>
      <vt:lpstr>5주차</vt:lpstr>
      <vt:lpstr>5주차</vt:lpstr>
      <vt:lpstr>7주차  Algorithm_2</vt:lpstr>
      <vt:lpstr>7주차</vt:lpstr>
      <vt:lpstr>7주차</vt:lpstr>
      <vt:lpstr>7주차</vt:lpstr>
      <vt:lpstr>7주차</vt:lpstr>
      <vt:lpstr>7주차</vt:lpstr>
      <vt:lpstr>7주차</vt:lpstr>
      <vt:lpstr>7주차</vt:lpstr>
      <vt:lpstr>마무리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KwonJeong</dc:creator>
  <cp:lastModifiedBy>KwonJeong</cp:lastModifiedBy>
  <cp:revision>29</cp:revision>
  <dcterms:created xsi:type="dcterms:W3CDTF">2020-10-18T14:09:36Z</dcterms:created>
  <dcterms:modified xsi:type="dcterms:W3CDTF">2020-10-24T22:13:28Z</dcterms:modified>
</cp:coreProperties>
</file>